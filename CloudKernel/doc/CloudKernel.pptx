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71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274320" y="914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914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5029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914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5029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914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5029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914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5029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914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5029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-274320" y="9601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3716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9601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13716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9601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13716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9601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13716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9601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3716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96012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13716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-274320" y="18288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2402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18288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57400" y="22402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18288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22402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18288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22402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18288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0840" y="22402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82880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22402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-274320" y="26974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1089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80160" y="26974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57400" y="31089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34640" y="26974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11880" y="31089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0" y="26974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66360" y="31089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26974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31089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269748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31089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274320" y="35661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39776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80160" y="35661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57400" y="39776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34640" y="35661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11880" y="39776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89120" y="35661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66360" y="39776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0" y="35661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20840" y="39776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98080" y="356616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75320" y="3977640"/>
            <a:ext cx="640080" cy="640080"/>
          </a:xfrm>
          <a:prstGeom prst="hexagon">
            <a:avLst/>
          </a:prstGeom>
          <a:solidFill>
            <a:srgbClr val="00BFFF">
              <a:alpha val="7000"/>
            </a:srgbClr>
          </a:solidFill>
          <a:ln w="6350">
            <a:solidFill>
              <a:srgbClr val="00BFFF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" y="1005840"/>
            <a:ext cx="7315200" cy="1371600"/>
          </a:xfrm>
          <a:prstGeom prst="rect">
            <a:avLst/>
          </a:prstGeom>
          <a:solidFill>
            <a:srgbClr val="001428">
              <a:alpha val="80000"/>
            </a:srgbClr>
          </a:solidFill>
          <a:ln w="12700">
            <a:solidFill>
              <a:srgbClr val="00B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96012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335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CloudKernel</a:t>
            </a:r>
            <a:endParaRPr lang="en-US" sz="7200" dirty="0"/>
          </a:p>
        </p:txBody>
      </p:sp>
      <p:sp>
        <p:nvSpPr>
          <p:cNvPr id="66" name="Text 64"/>
          <p:cNvSpPr/>
          <p:nvPr/>
        </p:nvSpPr>
        <p:spPr>
          <a:xfrm>
            <a:off x="502920" y="914400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B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CloudKernel</a:t>
            </a:r>
            <a:endParaRPr lang="en-US" sz="7200" dirty="0"/>
          </a:p>
        </p:txBody>
      </p:sp>
      <p:sp>
        <p:nvSpPr>
          <p:cNvPr id="67" name="Text 65"/>
          <p:cNvSpPr/>
          <p:nvPr/>
        </p:nvSpPr>
        <p:spPr>
          <a:xfrm>
            <a:off x="548640" y="21945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Real-Time Java Concurrency Simulator Modeled After Cloud Hypervisor Scheduling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731520" y="2788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if you could watch threads fight over resources — live?"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11480" y="3273552"/>
            <a:ext cx="8321040" cy="0"/>
          </a:xfrm>
          <a:prstGeom prst="line">
            <a:avLst/>
          </a:prstGeom>
          <a:noFill/>
          <a:ln w="19050">
            <a:solidFill>
              <a:srgbClr val="00BFFF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336499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NFC Institute of Engineering &amp; Technology, Multan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Artificial Intelligence  |  4th Semester BSAI 2k24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To: Mam Amara Nadeem  |  March 03, 2026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12064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Muawiya Amir  ·  Ali Raza  ·  Muhammad Arslan Nasir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Why Does This Matter?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0" y="777240"/>
            <a:ext cx="0" cy="3291840"/>
          </a:xfrm>
          <a:prstGeom prst="line">
            <a:avLst/>
          </a:prstGeom>
          <a:noFill/>
          <a:ln w="19050">
            <a:solidFill>
              <a:srgbClr val="00BF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777240"/>
            <a:ext cx="3977640" cy="3200400"/>
          </a:xfrm>
          <a:prstGeom prst="rect">
            <a:avLst/>
          </a:prstGeom>
          <a:solidFill>
            <a:srgbClr val="131929">
              <a:alpha val="8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66160" cy="713232"/>
          </a:xfrm>
          <a:prstGeom prst="rect">
            <a:avLst/>
          </a:prstGeom>
          <a:solidFill>
            <a:srgbClr val="1A0A0A">
              <a:alpha val="90000"/>
            </a:srgbClr>
          </a:solidFill>
          <a:ln w="1016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61872"/>
            <a:ext cx="3291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</a:t>
            </a: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concurrency is notoriously difficult to visualize and debug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66160" cy="713232"/>
          </a:xfrm>
          <a:prstGeom prst="rect">
            <a:avLst/>
          </a:prstGeom>
          <a:solidFill>
            <a:srgbClr val="1A0A0A">
              <a:alpha val="90000"/>
            </a:srgbClr>
          </a:solidFill>
          <a:ln w="1016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84832"/>
            <a:ext cx="3291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</a:t>
            </a: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Hypervisor-level scheduling concepts are taught theoretically — with no interactive demonstration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566160" cy="713232"/>
          </a:xfrm>
          <a:prstGeom prst="rect">
            <a:avLst/>
          </a:prstGeom>
          <a:solidFill>
            <a:srgbClr val="1A0A0A">
              <a:alpha val="90000"/>
            </a:srgbClr>
          </a:solidFill>
          <a:ln w="1016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907792"/>
            <a:ext cx="3291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</a:t>
            </a: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contention, deadlocks, and starvation are invisible to learners without real-time feedback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3977640" cy="3200400"/>
          </a:xfrm>
          <a:prstGeom prst="rect">
            <a:avLst/>
          </a:prstGeom>
          <a:solidFill>
            <a:srgbClr val="131929">
              <a:alpha val="80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68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ANSWER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234440"/>
            <a:ext cx="3566160" cy="548640"/>
          </a:xfrm>
          <a:prstGeom prst="rect">
            <a:avLst/>
          </a:prstGeom>
          <a:solidFill>
            <a:srgbClr val="001A0D">
              <a:alpha val="90000"/>
            </a:srgbClr>
          </a:solidFill>
          <a:ln w="1016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252728"/>
            <a:ext cx="338328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</a:t>
            </a: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CloudKernel makes thread behavior VISIBLE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856232"/>
            <a:ext cx="3566160" cy="548640"/>
          </a:xfrm>
          <a:prstGeom prst="rect">
            <a:avLst/>
          </a:prstGeom>
          <a:solidFill>
            <a:srgbClr val="001A0D">
              <a:alpha val="90000"/>
            </a:srgbClr>
          </a:solidFill>
          <a:ln w="1016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874520"/>
            <a:ext cx="338328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</a:t>
            </a: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a real hypervisor scheduling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478024"/>
            <a:ext cx="3566160" cy="548640"/>
          </a:xfrm>
          <a:prstGeom prst="rect">
            <a:avLst/>
          </a:prstGeom>
          <a:solidFill>
            <a:srgbClr val="001A0D">
              <a:alpha val="90000"/>
            </a:srgbClr>
          </a:solidFill>
          <a:ln w="1016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96312"/>
            <a:ext cx="338328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</a:t>
            </a: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GUI + terminal logs show contention as it happens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3099816"/>
            <a:ext cx="3566160" cy="548640"/>
          </a:xfrm>
          <a:prstGeom prst="rect">
            <a:avLst/>
          </a:prstGeom>
          <a:solidFill>
            <a:srgbClr val="001A0D">
              <a:alpha val="90000"/>
            </a:srgbClr>
          </a:solidFill>
          <a:ln w="1016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118104"/>
            <a:ext cx="3383280" cy="521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</a:t>
            </a: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— adjustable VMs, resources, timeouts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001525"/>
          </a:solidFill>
          <a:ln w="12700">
            <a:solidFill>
              <a:srgbClr val="00BFFF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062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"Concurrency bugs don't announce themselves. CloudKernel makes them."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Engine Under the Hood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1691640" cy="1280160"/>
          </a:xfrm>
          <a:prstGeom prst="rect">
            <a:avLst/>
          </a:prstGeom>
          <a:solidFill>
            <a:srgbClr val="1A2235"/>
          </a:solidFill>
          <a:ln w="25400">
            <a:solidFill>
              <a:srgbClr val="1E6E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14400"/>
            <a:ext cx="1691640" cy="64008"/>
          </a:xfrm>
          <a:prstGeom prst="rect">
            <a:avLst/>
          </a:prstGeom>
          <a:solidFill>
            <a:srgbClr val="1E6EB5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BOOT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PHASE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E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CountDownLatch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12264" y="1554480"/>
            <a:ext cx="27432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313432" y="1463040"/>
            <a:ext cx="164592" cy="182880"/>
          </a:xfrm>
          <a:prstGeom prst="triangl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359152"/>
            <a:ext cx="1691640" cy="868680"/>
          </a:xfrm>
          <a:prstGeom prst="rect">
            <a:avLst/>
          </a:prstGeom>
          <a:solidFill>
            <a:srgbClr val="131929">
              <a:alpha val="70000"/>
            </a:srgbClr>
          </a:solidFill>
          <a:ln w="10160">
            <a:solidFill>
              <a:srgbClr val="1E6EB5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77440"/>
            <a:ext cx="158191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boot tasks must complete before any VM starts (latch = 4)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914400"/>
            <a:ext cx="1691640" cy="1280160"/>
          </a:xfrm>
          <a:prstGeom prst="rect">
            <a:avLst/>
          </a:prstGeom>
          <a:solidFill>
            <a:srgbClr val="1A2235"/>
          </a:solidFill>
          <a:ln w="25400">
            <a:solidFill>
              <a:srgbClr val="00B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914400"/>
            <a:ext cx="169164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RUNTIME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PHASE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719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 Threads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34256" y="1554480"/>
            <a:ext cx="27432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4535424" y="1463040"/>
            <a:ext cx="164592" cy="182880"/>
          </a:xfrm>
          <a:prstGeom prst="triangl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359152"/>
            <a:ext cx="1691640" cy="868680"/>
          </a:xfrm>
          <a:prstGeom prst="rect">
            <a:avLst/>
          </a:prstGeom>
          <a:solidFill>
            <a:srgbClr val="131929">
              <a:alpha val="70000"/>
            </a:srgbClr>
          </a:solidFill>
          <a:ln w="10160">
            <a:solidFill>
              <a:srgbClr val="00B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2377440"/>
            <a:ext cx="158191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VM runs N cycles concurrently in its own thread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914400"/>
            <a:ext cx="1691640" cy="1280160"/>
          </a:xfrm>
          <a:prstGeom prst="rect">
            <a:avLst/>
          </a:prstGeom>
          <a:solidFill>
            <a:srgbClr val="1A2235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914400"/>
            <a:ext cx="169164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RESOURCE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PHASE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1719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56248" y="1554480"/>
            <a:ext cx="27432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6757416" y="1463040"/>
            <a:ext cx="164592" cy="182880"/>
          </a:xfrm>
          <a:prstGeom prst="triangl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359152"/>
            <a:ext cx="1691640" cy="868680"/>
          </a:xfrm>
          <a:prstGeom prst="rect">
            <a:avLst/>
          </a:prstGeom>
          <a:solidFill>
            <a:srgbClr val="131929">
              <a:alpha val="70000"/>
            </a:srgbClr>
          </a:solidFill>
          <a:ln w="10160">
            <a:solidFill>
              <a:srgbClr val="FF8C42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377440"/>
            <a:ext cx="158191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 compete for CPU, Memory, Network permits with timeout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50024" y="914400"/>
            <a:ext cx="1691640" cy="1280160"/>
          </a:xfrm>
          <a:prstGeom prst="rect">
            <a:avLst/>
          </a:prstGeom>
          <a:solidFill>
            <a:srgbClr val="1A223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0024" y="914400"/>
            <a:ext cx="169164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95744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SYNC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PHASE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5744" y="1719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CyclicBarrier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50024" y="2359152"/>
            <a:ext cx="1691640" cy="868680"/>
          </a:xfrm>
          <a:prstGeom prst="rect">
            <a:avLst/>
          </a:prstGeom>
          <a:solidFill>
            <a:srgbClr val="131929">
              <a:alpha val="70000"/>
            </a:srgbClr>
          </a:solidFill>
          <a:ln w="10160">
            <a:solidFill>
              <a:srgbClr val="9B59B6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4888" y="2377440"/>
            <a:ext cx="158191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VMs meet at barrier — next cycle starts only when all arrive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05840" y="4526280"/>
            <a:ext cx="2011680" cy="347472"/>
          </a:xfrm>
          <a:prstGeom prst="rect">
            <a:avLst/>
          </a:prstGeom>
          <a:solidFill>
            <a:srgbClr val="1E6EB5">
              <a:alpha val="30000"/>
            </a:srgbClr>
          </a:solidFill>
          <a:ln w="19050">
            <a:solidFill>
              <a:srgbClr val="1E6E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4526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CountDownLatch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4526280"/>
            <a:ext cx="2011680" cy="347472"/>
          </a:xfrm>
          <a:prstGeom prst="rect">
            <a:avLst/>
          </a:prstGeom>
          <a:solidFill>
            <a:srgbClr val="FF8C42">
              <a:alpha val="30000"/>
            </a:srgbClr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526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Fair Semaphore ×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4526280"/>
            <a:ext cx="2011680" cy="347472"/>
          </a:xfrm>
          <a:prstGeom prst="rect">
            <a:avLst/>
          </a:prstGeom>
          <a:solidFill>
            <a:srgbClr val="9B59B6">
              <a:alpha val="3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4526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CyclicBarrier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See It. Monitor It. Understand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6400800" cy="4023360"/>
          </a:xfrm>
          <a:prstGeom prst="rect">
            <a:avLst/>
          </a:prstGeom>
          <a:solidFill>
            <a:srgbClr val="0D1220"/>
          </a:solidFill>
          <a:ln w="19050">
            <a:solidFill>
              <a:srgbClr val="00B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64008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CloudKernel  </a:t>
            </a:r>
            <a:r>
              <a:rPr lang="en-US" sz="1000" dirty="0">
                <a:solidFill>
                  <a:srgbClr val="AA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14:52:07  </a:t>
            </a:r>
            <a:r>
              <a:rPr lang="en-US" sz="10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● ONLINE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62179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1E6E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 [CPU ●] [MEM ●] [NET ●] [FS ●]   CountDownLatch: 0/4  READY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56232"/>
            <a:ext cx="1485900" cy="11430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56232"/>
            <a:ext cx="14859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1394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 P:HIGH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394460" cy="91440"/>
          </a:xfrm>
          <a:prstGeom prst="rect">
            <a:avLst/>
          </a:prstGeom>
          <a:solidFill>
            <a:srgbClr val="223344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77440"/>
            <a:ext cx="906399" cy="914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05456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■■  MEM ■■  NET ■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034540" y="1856232"/>
            <a:ext cx="1485900" cy="11430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34540" y="1856232"/>
            <a:ext cx="14859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0260" y="1920240"/>
            <a:ext cx="1394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0260" y="2148840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 P:HIGH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80260" y="2377440"/>
            <a:ext cx="1394460" cy="91440"/>
          </a:xfrm>
          <a:prstGeom prst="rect">
            <a:avLst/>
          </a:prstGeom>
          <a:solidFill>
            <a:srgbClr val="223344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0260" y="2377440"/>
            <a:ext cx="906399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0260" y="2505456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■■  MEM ■■  NET ■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66160" y="1856232"/>
            <a:ext cx="1485900" cy="1143000"/>
          </a:xfrm>
          <a:prstGeom prst="rect">
            <a:avLst/>
          </a:prstGeom>
          <a:solidFill>
            <a:srgbClr val="1A2235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856232"/>
            <a:ext cx="1485900" cy="54864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1920240"/>
            <a:ext cx="1394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2148840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 P:HIGH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11880" y="2377440"/>
            <a:ext cx="1394460" cy="91440"/>
          </a:xfrm>
          <a:prstGeom prst="rect">
            <a:avLst/>
          </a:prstGeom>
          <a:solidFill>
            <a:srgbClr val="223344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2377440"/>
            <a:ext cx="906399" cy="914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505456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■■  MEM ■■  NET ■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97780" y="1856232"/>
            <a:ext cx="1485900" cy="1143000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7780" y="1856232"/>
            <a:ext cx="14859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1920240"/>
            <a:ext cx="1394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43500" y="2148840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 P:HIGH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43500" y="2377440"/>
            <a:ext cx="1394460" cy="91440"/>
          </a:xfrm>
          <a:prstGeom prst="rect">
            <a:avLst/>
          </a:prstGeom>
          <a:solidFill>
            <a:srgbClr val="223344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43500" y="2377440"/>
            <a:ext cx="906399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3500" y="2505456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■■  MEM ■■  NET ■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02920" y="3090672"/>
            <a:ext cx="1554480" cy="914400"/>
          </a:xfrm>
          <a:prstGeom prst="rect">
            <a:avLst/>
          </a:prstGeom>
          <a:solidFill>
            <a:srgbClr val="131929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13639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 ■■□□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  ■□□□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 ■■■□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94560" y="3090672"/>
            <a:ext cx="2286000" cy="914400"/>
          </a:xfrm>
          <a:prstGeom prst="rect">
            <a:avLst/>
          </a:prstGeom>
          <a:solidFill>
            <a:srgbClr val="131929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31363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BARRIER  Cycle #7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Awaiting VM-4...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090672"/>
            <a:ext cx="2103120" cy="914400"/>
          </a:xfrm>
          <a:prstGeom prst="rect">
            <a:avLst/>
          </a:prstGeom>
          <a:solidFill>
            <a:srgbClr val="0A0A14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136392"/>
            <a:ext cx="2011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[CONTENTION] VM-2 timeout
</a:t>
            </a:r>
            <a:r>
              <a:rPr lang="en-US" sz="7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[ACQUIRED]   VM-1 CPU ok
</a:t>
            </a:r>
            <a:r>
              <a:rPr lang="en-US" sz="75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[BARRIER]    Cycle 7 sync
</a:t>
            </a:r>
            <a:r>
              <a:rPr lang="en-US" sz="75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[TIMEOUT]    VM-4 NET
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11480" y="4462272"/>
            <a:ext cx="64008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805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Cycles: 7  |  Ops: 284  |  Contentions: 12  |  Timeouts: 5  |  Uptime: 00:04:22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949440" y="1325880"/>
            <a:ext cx="182880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thread state updates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49440" y="2286000"/>
            <a:ext cx="182880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22592" y="2331720"/>
            <a:ext cx="1691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Contention events flagged instantly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49440" y="3246120"/>
            <a:ext cx="182880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22592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log mirrored to terminal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35040" y="960120"/>
            <a:ext cx="777240" cy="0"/>
          </a:xfrm>
          <a:prstGeom prst="line">
            <a:avLst/>
          </a:prstGeom>
          <a:noFill/>
          <a:ln w="10160">
            <a:solidFill>
              <a:srgbClr val="00BFFF">
                <a:alpha val="60000"/>
              </a:srgbClr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035040" y="1920240"/>
            <a:ext cx="777240" cy="0"/>
          </a:xfrm>
          <a:prstGeom prst="line">
            <a:avLst/>
          </a:prstGeom>
          <a:noFill/>
          <a:ln w="10160">
            <a:solidFill>
              <a:srgbClr val="00BFFF">
                <a:alpha val="60000"/>
              </a:srgbClr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5943600" y="2926080"/>
            <a:ext cx="868680" cy="0"/>
          </a:xfrm>
          <a:prstGeom prst="line">
            <a:avLst/>
          </a:prstGeom>
          <a:noFill/>
          <a:ln w="10160">
            <a:solidFill>
              <a:srgbClr val="00BFFF">
                <a:alpha val="60000"/>
              </a:srgbClr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What Makes CloudKernel Different?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2651760" cy="3063240"/>
          </a:xfrm>
          <a:prstGeom prst="rect">
            <a:avLst/>
          </a:prstGeom>
          <a:solidFill>
            <a:srgbClr val="131929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265176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89611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Fair Semaphores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298448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Initialized with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fair=true — strict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FIFO ordering.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thread starvation.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2468880" cy="320040"/>
          </a:xfrm>
          <a:prstGeom prst="rect">
            <a:avLst/>
          </a:prstGeom>
          <a:solidFill>
            <a:srgbClr val="0A0E1A"/>
          </a:solidFill>
          <a:ln w="10160">
            <a:solidFill>
              <a:srgbClr val="00B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25877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Semaphore(N, true)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804672"/>
            <a:ext cx="2651760" cy="3063240"/>
          </a:xfrm>
          <a:prstGeom prst="rect">
            <a:avLst/>
          </a:prstGeom>
          <a:solidFill>
            <a:srgbClr val="131929"/>
          </a:solidFill>
          <a:ln w="1905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804672"/>
            <a:ext cx="265176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89611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Timeout Handling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298448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tryAcquire(timeout)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deadlock.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Contention events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logged + counted.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578608"/>
            <a:ext cx="2468880" cy="320040"/>
          </a:xfrm>
          <a:prstGeom prst="rect">
            <a:avLst/>
          </a:prstGeom>
          <a:solidFill>
            <a:srgbClr val="0A0E1A"/>
          </a:solidFill>
          <a:ln w="10160">
            <a:solidFill>
              <a:srgbClr val="FFA50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25877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tryAcquire(500, MILLISECONDS)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804672"/>
            <a:ext cx="2651760" cy="3063240"/>
          </a:xfrm>
          <a:prstGeom prst="rect">
            <a:avLst/>
          </a:prstGeom>
          <a:solidFill>
            <a:srgbClr val="131929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804672"/>
            <a:ext cx="265176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89611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Thread-Safe GUI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298448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Swing updates via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SwingUtilities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.invokeLater()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zero EDT violations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578608"/>
            <a:ext cx="2468880" cy="320040"/>
          </a:xfrm>
          <a:prstGeom prst="rect">
            <a:avLst/>
          </a:prstGeom>
          <a:solidFill>
            <a:srgbClr val="0A0E1A"/>
          </a:solidFill>
          <a:ln w="10160">
            <a:solidFill>
              <a:srgbClr val="7B61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5877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SwingUtilities.invokeLater()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977640"/>
            <a:ext cx="8321040" cy="868680"/>
          </a:xfrm>
          <a:prstGeom prst="rect">
            <a:avLst/>
          </a:prstGeom>
          <a:solidFill>
            <a:srgbClr val="061525"/>
          </a:solidFill>
          <a:ln w="19050">
            <a:solidFill>
              <a:srgbClr val="00BFFF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977640"/>
            <a:ext cx="54864" cy="8686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95928"/>
            <a:ext cx="80467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"CloudKernel doesn't just simulate concurrency — it exposes it. Every contention, every timeout, every barrier sync is logged, counted, and displayed in real time. This is observability applied to OS education."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E8EDF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Outcomes &amp; Real-World Relevance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3749040" cy="2971800"/>
          </a:xfrm>
          <a:prstGeom prst="rect">
            <a:avLst/>
          </a:prstGeom>
          <a:solidFill>
            <a:srgbClr val="131929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ACHIEVED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520440" cy="2423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functional multi-threaded Java simulator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GUI with zero thread-safety violations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Modular, configurable architecture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Demonstrates CountDownLatch, Semaphore &amp; CyclicBarrier together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Mirrors real cloud scheduler behavior (AWS/Azure VM orchestration)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804672"/>
            <a:ext cx="4389120" cy="2971800"/>
          </a:xfrm>
          <a:prstGeom prst="rect">
            <a:avLst/>
          </a:prstGeom>
          <a:solidFill>
            <a:srgbClr val="131929"/>
          </a:solidFill>
          <a:ln w="12700">
            <a:solidFill>
              <a:srgbClr val="00B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8961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PARALLELS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1170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CloudKernel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11704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0" y="1170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World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554480"/>
            <a:ext cx="4114800" cy="0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581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VirtualMachine.java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80760" y="1581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1581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EC2 Instance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1965960"/>
            <a:ext cx="4114800" cy="0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ResourceManager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19933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1993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Hypervisor Resource Pool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2377440"/>
            <a:ext cx="4114800" cy="0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404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CountDownLatch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24048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24048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readiness check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34840" y="2788920"/>
            <a:ext cx="4114800" cy="0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816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CyclicBarrier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8163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2816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checkpoint sync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34840" y="3200400"/>
            <a:ext cx="4114800" cy="0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227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Fair Semaphore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32278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32278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limiter / quota manager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858768"/>
            <a:ext cx="8321040" cy="804672"/>
          </a:xfrm>
          <a:prstGeom prst="rect">
            <a:avLst/>
          </a:prstGeom>
          <a:solidFill>
            <a:srgbClr val="030B14"/>
          </a:solidFill>
          <a:ln w="19050">
            <a:solidFill>
              <a:srgbClr val="00BFFF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858768"/>
            <a:ext cx="832104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95344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"CloudKernel proves that OS-level concepts aren't just theory — they're the backbone of every cloud platform running today."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852580"/>
            <a:ext cx="9144000" cy="310896"/>
          </a:xfrm>
          <a:prstGeom prst="rect">
            <a:avLst/>
          </a:prstGeom>
          <a:solidFill>
            <a:srgbClr val="060C18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0160">
            <a:solidFill>
              <a:srgbClr val="00BF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8371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·  Questions Welcome  |  NFC IET Multan · AI Department · BSAI 2k24  | Muawiya Amir · Ali Raza · Muhammad Arslan Nasir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On-screen Show (16:9)</PresentationFormat>
  <Paragraphs>126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Segoe UI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CloudKernel</dc:title>
  <dc:subject>PptxGenJS Presentation</dc:subject>
  <dc:creator>PptxGenJS</dc:creator>
  <cp:lastModifiedBy>Muawiya Amir</cp:lastModifiedBy>
  <cp:revision>2</cp:revision>
  <dcterms:created xsi:type="dcterms:W3CDTF">2026-05-02T06:56:39Z</dcterms:created>
  <dcterms:modified xsi:type="dcterms:W3CDTF">2026-05-02T07:02:56Z</dcterms:modified>
</cp:coreProperties>
</file>